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914400"/>
            <a:ext cx="3657600" cy="3657600"/>
          </a:xfrm>
          <a:prstGeom prst="ellipse">
            <a:avLst/>
          </a:prstGeom>
          <a:solidFill>
            <a:srgbClr val="201850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noFill/>
          <a:ln w="1270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19202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6C63FF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9C0"/>
                </a:solidFill>
              </a:rPr>
              <a:t>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7th AI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9C0"/>
                </a:solidFill>
              </a:rPr>
              <a:t>Enterprise AI Video Surveillance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9436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</a:rPr>
              <a:t>A multi-tenant, GPU-accelerated security SaaS platform featuring 11+ AI detection modules, real-time alert push, guard operations management, and full compliance tools — deployable on Windows via native desktop app or web browser.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4846320"/>
            <a:ext cx="1239012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11 AI Modules</a:t>
            </a:r>
          </a:p>
        </p:txBody>
      </p:sp>
      <p:sp>
        <p:nvSpPr>
          <p:cNvPr id="14" name="Oval 13"/>
          <p:cNvSpPr/>
          <p:nvPr/>
        </p:nvSpPr>
        <p:spPr>
          <a:xfrm>
            <a:off x="1787652" y="4846320"/>
            <a:ext cx="1161288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Multi-Tenant</a:t>
            </a:r>
          </a:p>
        </p:txBody>
      </p:sp>
      <p:sp>
        <p:nvSpPr>
          <p:cNvPr id="15" name="Oval 14"/>
          <p:cNvSpPr/>
          <p:nvPr/>
        </p:nvSpPr>
        <p:spPr>
          <a:xfrm>
            <a:off x="3131820" y="4846320"/>
            <a:ext cx="131673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Real-Time Push</a:t>
            </a:r>
          </a:p>
        </p:txBody>
      </p:sp>
      <p:sp>
        <p:nvSpPr>
          <p:cNvPr id="16" name="Oval 15"/>
          <p:cNvSpPr/>
          <p:nvPr/>
        </p:nvSpPr>
        <p:spPr>
          <a:xfrm>
            <a:off x="4631436" y="4846320"/>
            <a:ext cx="131673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PDPA Compliant</a:t>
            </a:r>
          </a:p>
        </p:txBody>
      </p:sp>
      <p:sp>
        <p:nvSpPr>
          <p:cNvPr id="17" name="Oval 16"/>
          <p:cNvSpPr/>
          <p:nvPr/>
        </p:nvSpPr>
        <p:spPr>
          <a:xfrm>
            <a:off x="6131052" y="4846320"/>
            <a:ext cx="1394460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Windows 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86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9C0"/>
                </a:solidFill>
              </a:rPr>
              <a:t>104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</a:rPr>
              <a:t>Tests Passing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486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9C0"/>
                </a:solidFill>
              </a:rPr>
              <a:t>11+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</a:rPr>
              <a:t>AI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486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9C0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</a:rPr>
              <a:t>Cameras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486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9C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</a:rPr>
              <a:t>Sites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AA"/>
                </a:solidFill>
              </a:rPr>
              <a:t>Confidential — For Demonstration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Platform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🔍  License Plate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Detect, read and match vehicle plates against block/allow watchlists in real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005840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0332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👤  Face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ArcFace 512-d embeddings, VIP &amp; blacklist matching, unknown-face alerting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92808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🚧  Intrusion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Restricted zone breach detection with polygon ROI, dwell-time tracking &amp; SLA escalation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892808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🦺  PPE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Hard-hat, vest, and safety-gear enforcement per camera zone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79776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07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👥  Crowd Density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Real-time head-count, density heatmap, threshold-triggered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779776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807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🔥  Fire &amp; Smoke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127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Early fire/smoke warning with high-confidence multi-frame confirmation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66744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94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🔫  Weapon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1421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Firearm and bladed-weapon detection with immediate critical alert + incident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666744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694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📊  Behavior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1421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Loitering, running, fighting, and abnormal motion classification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53712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811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📷  Camera Tampering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0118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Detects spray, obstruction, and camera repositioning attacks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4553712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811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📦  Abandoned Object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90118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Flags unattended items exceeding configurable dwell thresholds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40679"/>
            <a:ext cx="5303520" cy="74980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68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🏃  Slip / Fall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8815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Detects falls in elderly-care, warehouse and high-risk environments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AA"/>
                </a:solidFill>
              </a:rPr>
              <a:t>All modules share a common Redis Streams pipeline, PostgreSQL RLS tenant isolation, real-time WebSocket push, and evidence chain-of-custody.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Live Security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Real-time situational awareness across all sites, cameras, and AI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Live KPI cards: Open Alerts, Incidents, Active Cameras, Detections today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Site Health overview with per-site camera online status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7-day detection trend chart — all modules visualised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Alert severity breakdown: Critical / High / Medium / Low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Active notification channels display (email, webhook, SMS)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Real-time WebSocket push — counts update instantly on new events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Role-based view: Guards see assigned shifts; Admins see full tenant stats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Dark glassmorphism UI — optimised for 24/7 control room environments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928116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Real-Time</a:t>
            </a:r>
          </a:p>
        </p:txBody>
      </p:sp>
      <p:sp>
        <p:nvSpPr>
          <p:cNvPr id="12" name="Oval 11"/>
          <p:cNvSpPr/>
          <p:nvPr/>
        </p:nvSpPr>
        <p:spPr>
          <a:xfrm>
            <a:off x="1339596" y="5715000"/>
            <a:ext cx="1005840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Multi-Site</a:t>
            </a:r>
          </a:p>
        </p:txBody>
      </p:sp>
      <p:sp>
        <p:nvSpPr>
          <p:cNvPr id="13" name="Oval 12"/>
          <p:cNvSpPr/>
          <p:nvPr/>
        </p:nvSpPr>
        <p:spPr>
          <a:xfrm>
            <a:off x="2482596" y="5715000"/>
            <a:ext cx="100584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Role-Based</a:t>
            </a:r>
          </a:p>
        </p:txBody>
      </p:sp>
      <p:sp>
        <p:nvSpPr>
          <p:cNvPr id="14" name="Oval 13"/>
          <p:cNvSpPr/>
          <p:nvPr/>
        </p:nvSpPr>
        <p:spPr>
          <a:xfrm>
            <a:off x="3625596" y="5715000"/>
            <a:ext cx="131673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WebSocket Push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Smart Alert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560"/>
                </a:solidFill>
              </a:rPr>
              <a:t>AI-generated alerts with severity triage, module filtering, and one-click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F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FF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Alerts auto-generated by all 11 AI detection modules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Severity levels: Critical (red), High (orange), Medium, Low, Info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Filter by module: LPR, Face, Intrusion, PPE, Crowd, Fire, Weapon, Behavior, Tamper…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Acknowledge or mark False Positive directly from the alert list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Real-time badge counter updates as new alerts arrive via WebSocket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Alert deduplication — no repeat alerts within configurable cooldown window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Structured alert codes (e.g. lpr.blocklist_hit) for i18n-ready rendering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Auto-escalation: unacknowledged High/Critical alerts escalate after SLA deadline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316736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Auto-Generated</a:t>
            </a:r>
          </a:p>
        </p:txBody>
      </p:sp>
      <p:sp>
        <p:nvSpPr>
          <p:cNvPr id="12" name="Oval 11"/>
          <p:cNvSpPr/>
          <p:nvPr/>
        </p:nvSpPr>
        <p:spPr>
          <a:xfrm>
            <a:off x="1728216" y="5715000"/>
            <a:ext cx="1005840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11 Modules</a:t>
            </a:r>
          </a:p>
        </p:txBody>
      </p:sp>
      <p:sp>
        <p:nvSpPr>
          <p:cNvPr id="13" name="Oval 12"/>
          <p:cNvSpPr/>
          <p:nvPr/>
        </p:nvSpPr>
        <p:spPr>
          <a:xfrm>
            <a:off x="2871216" y="5715000"/>
            <a:ext cx="1705356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False Positive Flag</a:t>
            </a:r>
          </a:p>
        </p:txBody>
      </p:sp>
      <p:sp>
        <p:nvSpPr>
          <p:cNvPr id="14" name="Oval 13"/>
          <p:cNvSpPr/>
          <p:nvPr/>
        </p:nvSpPr>
        <p:spPr>
          <a:xfrm>
            <a:off x="4713732" y="5715000"/>
            <a:ext cx="131673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SLA Escalation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Incident Management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9800"/>
                </a:solidFill>
              </a:rPr>
              <a:t>From alert to resolution — full incident lifecycle with assignment, notes, and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Auto-created incidents for high/critical severity detections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Extended workflow states: Open → Acknowledged → In Progress → Escalated → Resolved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Assign incident to any operator or supervisor user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Incident notes timeline with timestamps and author tracking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Multi-camera correlation: one incident can link multiple camera events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Evidence chain-of-custody: snapshot images linked to each incident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Dispatch integration: send guard to scene with ETA and custody tracking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PDPA-compliant incident closure with data subject references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00584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 Badge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5715000"/>
            <a:ext cx="1161288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Multi-Camera</a:t>
            </a:r>
          </a:p>
        </p:txBody>
      </p:sp>
      <p:sp>
        <p:nvSpPr>
          <p:cNvPr id="13" name="Oval 12"/>
          <p:cNvSpPr/>
          <p:nvPr/>
        </p:nvSpPr>
        <p:spPr>
          <a:xfrm>
            <a:off x="2715768" y="5715000"/>
            <a:ext cx="850392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Dispatch</a:t>
            </a:r>
          </a:p>
        </p:txBody>
      </p:sp>
      <p:sp>
        <p:nvSpPr>
          <p:cNvPr id="14" name="Oval 13"/>
          <p:cNvSpPr/>
          <p:nvPr/>
        </p:nvSpPr>
        <p:spPr>
          <a:xfrm>
            <a:off x="3703320" y="5715000"/>
            <a:ext cx="147218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Live Wall — Multi-Camera 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9C0"/>
                </a:solidFill>
              </a:rPr>
              <a:t>Watch up to 16 simultaneous live streams in configurable grid layouts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live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Grid layouts: 1×1, 2×2, 3×3, 4×4 — up to 16 simultaneous live views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Site-filtered camera picker — quickly add cameras to the wall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Camera name + site label overlay on each cell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Per-cell: Record button (start/stop clip), Full-screen expand, Remove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MJPEG live streaming proxy — works through the same web/app server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Recording: streams saved as MP4, listed in Recordings page for download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Wall layout persisted to localStorage — survives refresh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Available in both web dashboard and Windows desktop application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00584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16 Streams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5715000"/>
            <a:ext cx="1005840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MJPEG Live</a:t>
            </a:r>
          </a:p>
        </p:txBody>
      </p:sp>
      <p:sp>
        <p:nvSpPr>
          <p:cNvPr id="13" name="Oval 12"/>
          <p:cNvSpPr/>
          <p:nvPr/>
        </p:nvSpPr>
        <p:spPr>
          <a:xfrm>
            <a:off x="2560320" y="5715000"/>
            <a:ext cx="1239012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MP4 Recording</a:t>
            </a:r>
          </a:p>
        </p:txBody>
      </p:sp>
      <p:sp>
        <p:nvSpPr>
          <p:cNvPr id="14" name="Oval 13"/>
          <p:cNvSpPr/>
          <p:nvPr/>
        </p:nvSpPr>
        <p:spPr>
          <a:xfrm>
            <a:off x="3936491" y="5715000"/>
            <a:ext cx="1549908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Persistent Layout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Sites &amp; Camera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Hierarchical site → camera structure with RTSP stream validation and per-module AI tagging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cam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Sites group cameras by physical location (HQ Building, Warehouse, Car Park…)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Per-camera AI module tags: lpr, face, intrusion, ppe, crowd, fire_smoke, weapon…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Camera active/inactive status with real-time health monitoring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RTSP stream URL + credential storage with live 'Test Connection' validation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Connection validation returns resolution, FPS, and latency before saving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Stream health monitoring: online → degraded → offline state machine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Camera offline alerts pushed to notification channels automatically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Per-tenant module licensing controls which AI features each camera can use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772668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 Sites</a:t>
            </a:r>
          </a:p>
        </p:txBody>
      </p:sp>
      <p:sp>
        <p:nvSpPr>
          <p:cNvPr id="12" name="Oval 11"/>
          <p:cNvSpPr/>
          <p:nvPr/>
        </p:nvSpPr>
        <p:spPr>
          <a:xfrm>
            <a:off x="1184148" y="5715000"/>
            <a:ext cx="1005840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10 Cameras</a:t>
            </a:r>
          </a:p>
        </p:txBody>
      </p:sp>
      <p:sp>
        <p:nvSpPr>
          <p:cNvPr id="13" name="Oval 12"/>
          <p:cNvSpPr/>
          <p:nvPr/>
        </p:nvSpPr>
        <p:spPr>
          <a:xfrm>
            <a:off x="2327148" y="5715000"/>
            <a:ext cx="139446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RTSP Validation</a:t>
            </a:r>
          </a:p>
        </p:txBody>
      </p:sp>
      <p:sp>
        <p:nvSpPr>
          <p:cNvPr id="14" name="Oval 13"/>
          <p:cNvSpPr/>
          <p:nvPr/>
        </p:nvSpPr>
        <p:spPr>
          <a:xfrm>
            <a:off x="3858768" y="5715000"/>
            <a:ext cx="131673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Module Tags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Detection Engine — 11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9C0"/>
                </a:solidFill>
              </a:rPr>
              <a:t>GPU-accelerated per-module workers with independent consumer groups and crash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detections_l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LPR: YOLOv8 plate detection + PaddleOCR — reads plates at ≥55% confidence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Face: InsightFace buffalo_l — 512-d ArcFace embeddings, cosine similarity match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Intrusion: YOLOv8 person + Shapely polygon zone check, foot-point method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PPE / Crowd / Fire / Smoke / Weapon / Behavior / Tamper / Abandoned / Fall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Each module runs as an independent Docker service — scales GPU workers independently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Redis Streams pipeline: XADD frames → XCONSUME per-module group → write DB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Crash recovery: XPENDING → XCLAIM — no frame silently lost on worker restart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Tenant-configurable thresholds via admin settings — no redeploy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694944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YOLOv8</a:t>
            </a:r>
          </a:p>
        </p:txBody>
      </p:sp>
      <p:sp>
        <p:nvSpPr>
          <p:cNvPr id="12" name="Oval 11"/>
          <p:cNvSpPr/>
          <p:nvPr/>
        </p:nvSpPr>
        <p:spPr>
          <a:xfrm>
            <a:off x="1106424" y="5715000"/>
            <a:ext cx="108356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InsightFace</a:t>
            </a:r>
          </a:p>
        </p:txBody>
      </p:sp>
      <p:sp>
        <p:nvSpPr>
          <p:cNvPr id="13" name="Oval 12"/>
          <p:cNvSpPr/>
          <p:nvPr/>
        </p:nvSpPr>
        <p:spPr>
          <a:xfrm>
            <a:off x="2327148" y="5715000"/>
            <a:ext cx="1239012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Redis Streams</a:t>
            </a:r>
          </a:p>
        </p:txBody>
      </p:sp>
      <p:sp>
        <p:nvSpPr>
          <p:cNvPr id="14" name="Oval 13"/>
          <p:cNvSpPr/>
          <p:nvPr/>
        </p:nvSpPr>
        <p:spPr>
          <a:xfrm>
            <a:off x="3703320" y="5715000"/>
            <a:ext cx="92811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GPU 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Smart Watchlist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560"/>
                </a:solidFill>
              </a:rPr>
              <a:t>Plate and face watchlists with block/allow classification and real-time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F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watch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FF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Plate watchlist: block (stolen/suspect) and allow (VIP/authorised) entries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Block hits → Critical alert + auto-incident; Allow hits → Low info alert only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Face watchlist: 512-d ArcFace vector embeddings stored per person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Face match threshold configurable per tenant (default 60% cosine similarity)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Unrecognised faces generate low-severity 'Info' alerts — no noise suppression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Entries include reason text and expiry date for time-limited blocks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Police case reference fields for evidentiary integration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All watchlist queries tenant-scoped via PostgreSQL RLS — cross-tenant leakage impossible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239012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Block / Allow</a:t>
            </a:r>
          </a:p>
        </p:txBody>
      </p:sp>
      <p:sp>
        <p:nvSpPr>
          <p:cNvPr id="12" name="Oval 11"/>
          <p:cNvSpPr/>
          <p:nvPr/>
        </p:nvSpPr>
        <p:spPr>
          <a:xfrm>
            <a:off x="1650492" y="5715000"/>
            <a:ext cx="1239012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ArcFace 512-d</a:t>
            </a:r>
          </a:p>
        </p:txBody>
      </p:sp>
      <p:sp>
        <p:nvSpPr>
          <p:cNvPr id="13" name="Oval 12"/>
          <p:cNvSpPr/>
          <p:nvPr/>
        </p:nvSpPr>
        <p:spPr>
          <a:xfrm>
            <a:off x="3026663" y="5715000"/>
            <a:ext cx="139446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Real-Time Match</a:t>
            </a:r>
          </a:p>
        </p:txBody>
      </p:sp>
      <p:sp>
        <p:nvSpPr>
          <p:cNvPr id="14" name="Oval 13"/>
          <p:cNvSpPr/>
          <p:nvPr/>
        </p:nvSpPr>
        <p:spPr>
          <a:xfrm>
            <a:off x="4558283" y="5715000"/>
            <a:ext cx="131673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Case 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Restricted Zone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9800"/>
                </a:solidFill>
              </a:rPr>
              <a:t>Polygon-based exclusion zones per camera with severity levels and dwell-time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Draw polygon zones on camera view — normalised 0..1 coordinates stored as JSON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Severity per zone: Low, Medium, High, Critical — drives alert severity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High/Critical zones auto-create incidents; Low/Medium alert only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Redis-backed BreachTracker deduplicates — one alert per breach episode, not per frame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Sliding TTL cooldown: person lingering keeps the breach active, doesn't re-alert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Dwell-time tracking: how long a person was in the zone (seconds)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8 zones seeded across 3 sites: Main Gate, Server Room, Loading Dock, Cold Storage…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Zones per camera; multiple zones supported simultaneously on same feed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083564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Polygon ROI</a:t>
            </a:r>
          </a:p>
        </p:txBody>
      </p:sp>
      <p:sp>
        <p:nvSpPr>
          <p:cNvPr id="12" name="Oval 11"/>
          <p:cNvSpPr/>
          <p:nvPr/>
        </p:nvSpPr>
        <p:spPr>
          <a:xfrm>
            <a:off x="1495044" y="5715000"/>
            <a:ext cx="1549908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 Severity Levels</a:t>
            </a:r>
          </a:p>
        </p:txBody>
      </p:sp>
      <p:sp>
        <p:nvSpPr>
          <p:cNvPr id="13" name="Oval 12"/>
          <p:cNvSpPr/>
          <p:nvPr/>
        </p:nvSpPr>
        <p:spPr>
          <a:xfrm>
            <a:off x="3182112" y="5715000"/>
            <a:ext cx="1316736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Dwell Tracking</a:t>
            </a:r>
          </a:p>
        </p:txBody>
      </p:sp>
      <p:sp>
        <p:nvSpPr>
          <p:cNvPr id="14" name="Oval 13"/>
          <p:cNvSpPr/>
          <p:nvPr/>
        </p:nvSpPr>
        <p:spPr>
          <a:xfrm>
            <a:off x="4636008" y="5715000"/>
            <a:ext cx="1239012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Deduplication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Analytics &amp; Reporting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9C0"/>
                </a:solidFill>
              </a:rPr>
              <a:t>30-day trend analysis across detections, alerts, incidents, and module breakdowns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KPI row: Total detections (30d), Total alerts, Open alerts, Incident resolution count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Detections by day — stacked bar chart per AI module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Alerts by day — trend line with severity overlay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Alerts by severity: Critical / High / Medium / Low breakdown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Alerts by module — which AI modules are generating the most events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Incident resolution time trend — SLA compliance monitoring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All queries filterable by site and date range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Export to CSV/Excel for compliance and management reporting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239012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30-Day Trends</a:t>
            </a:r>
          </a:p>
        </p:txBody>
      </p:sp>
      <p:sp>
        <p:nvSpPr>
          <p:cNvPr id="12" name="Oval 11"/>
          <p:cNvSpPr/>
          <p:nvPr/>
        </p:nvSpPr>
        <p:spPr>
          <a:xfrm>
            <a:off x="1650492" y="5715000"/>
            <a:ext cx="147218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Module Breakdown</a:t>
            </a:r>
          </a:p>
        </p:txBody>
      </p:sp>
      <p:sp>
        <p:nvSpPr>
          <p:cNvPr id="13" name="Oval 12"/>
          <p:cNvSpPr/>
          <p:nvPr/>
        </p:nvSpPr>
        <p:spPr>
          <a:xfrm>
            <a:off x="3259836" y="5715000"/>
            <a:ext cx="1316736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SLA Monitoring</a:t>
            </a:r>
          </a:p>
        </p:txBody>
      </p:sp>
      <p:sp>
        <p:nvSpPr>
          <p:cNvPr id="14" name="Oval 13"/>
          <p:cNvSpPr/>
          <p:nvPr/>
        </p:nvSpPr>
        <p:spPr>
          <a:xfrm>
            <a:off x="4713732" y="5715000"/>
            <a:ext cx="1005840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CSV Export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Activity Heatmap — Spatial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Visual site map showing camera positions, detection density, and live alert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Camera positions shown on a floor-plan / spatial canvas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Circle size = detection volume over selected time period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Colour coding: Red (critical), Orange (high), Yellow (open alerts), Teal (activity)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Pulsing ring animation = active critical alert on that camera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Filter by: Time Period (Last 24h, 7d, 30d), Module, Site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Top Cameras by Alerts leaderboard — identify hotspots instantly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Summary badges: total detections, total alerts, critical count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Instant navigation: click a camera bubble to open live feed or alert list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161288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Spatial View</a:t>
            </a:r>
          </a:p>
        </p:txBody>
      </p:sp>
      <p:sp>
        <p:nvSpPr>
          <p:cNvPr id="12" name="Oval 11"/>
          <p:cNvSpPr/>
          <p:nvPr/>
        </p:nvSpPr>
        <p:spPr>
          <a:xfrm>
            <a:off x="1572768" y="5715000"/>
            <a:ext cx="1239012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Alert Bubbles</a:t>
            </a:r>
          </a:p>
        </p:txBody>
      </p:sp>
      <p:sp>
        <p:nvSpPr>
          <p:cNvPr id="13" name="Oval 12"/>
          <p:cNvSpPr/>
          <p:nvPr/>
        </p:nvSpPr>
        <p:spPr>
          <a:xfrm>
            <a:off x="2948939" y="5715000"/>
            <a:ext cx="1316736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Critical Pulse</a:t>
            </a:r>
          </a:p>
        </p:txBody>
      </p:sp>
      <p:sp>
        <p:nvSpPr>
          <p:cNvPr id="14" name="Oval 13"/>
          <p:cNvSpPr/>
          <p:nvPr/>
        </p:nvSpPr>
        <p:spPr>
          <a:xfrm>
            <a:off x="4402836" y="5715000"/>
            <a:ext cx="108356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Site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Guard Operations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396"/>
                </a:solidFill>
              </a:rPr>
              <a:t>Shift scheduling, patrol routing, checkpoint scanning, and visitor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00E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guard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00E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Shift management: assign guards to sites with start/end times and handover notes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Patrol routes: define waypoints with QR-code checkpoints for verification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Mobile QR scanner: guard scans checkpoint, system logs GPS + timestamp proof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SOS panic button on mobile app — immediate critical incident created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Daily Occurrence Book (DOB): printable PLRD-compliant handover report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Visitor management: pre-registration, arrival/departure logging, overstay alerts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Overstay scheduler: auto-alert when visitor exceeds permitted duration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Dispatch: assign guard to incident with ETA, custody chain tracking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00584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Shift Mgmt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5715000"/>
            <a:ext cx="131673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QR Checkpoints</a:t>
            </a:r>
          </a:p>
        </p:txBody>
      </p:sp>
      <p:sp>
        <p:nvSpPr>
          <p:cNvPr id="13" name="Oval 12"/>
          <p:cNvSpPr/>
          <p:nvPr/>
        </p:nvSpPr>
        <p:spPr>
          <a:xfrm>
            <a:off x="2871216" y="5715000"/>
            <a:ext cx="100584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DOB Report</a:t>
            </a:r>
          </a:p>
        </p:txBody>
      </p:sp>
      <p:sp>
        <p:nvSpPr>
          <p:cNvPr id="14" name="Oval 13"/>
          <p:cNvSpPr/>
          <p:nvPr/>
        </p:nvSpPr>
        <p:spPr>
          <a:xfrm>
            <a:off x="4014216" y="5715000"/>
            <a:ext cx="108356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Visitor 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Reports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9C0"/>
                </a:solidFill>
              </a:rPr>
              <a:t>PDF report generation, PDPA compliance tools, and DSAR request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Site Summary Report: alerts, incidents, camera stats over configurable date range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Daily Occurrence Book (DOB): printable extract for PLRD compliance and handover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Incident Detail Report: full report with evidence chain of custody and timeline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PDPA / DSAR tab: manage Data Subject Access Requests with 30-day response tracking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Privacy masking: configurable face/plate blurring for compliance exports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All reports tenant-scoped — operators cannot access other tenants' data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Blockchain-style audit log verification (Verify Chain button)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Export history audit — every download logged with user, IP, timestamp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083564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PDF Reports</a:t>
            </a:r>
          </a:p>
        </p:txBody>
      </p:sp>
      <p:sp>
        <p:nvSpPr>
          <p:cNvPr id="12" name="Oval 11"/>
          <p:cNvSpPr/>
          <p:nvPr/>
        </p:nvSpPr>
        <p:spPr>
          <a:xfrm>
            <a:off x="1495044" y="5715000"/>
            <a:ext cx="928116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PDPA/DSAR</a:t>
            </a:r>
          </a:p>
        </p:txBody>
      </p:sp>
      <p:sp>
        <p:nvSpPr>
          <p:cNvPr id="13" name="Oval 12"/>
          <p:cNvSpPr/>
          <p:nvPr/>
        </p:nvSpPr>
        <p:spPr>
          <a:xfrm>
            <a:off x="2560320" y="5715000"/>
            <a:ext cx="1394460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Privacy Masking</a:t>
            </a:r>
          </a:p>
        </p:txBody>
      </p:sp>
      <p:sp>
        <p:nvSpPr>
          <p:cNvPr id="14" name="Oval 13"/>
          <p:cNvSpPr/>
          <p:nvPr/>
        </p:nvSpPr>
        <p:spPr>
          <a:xfrm>
            <a:off x="4091939" y="5715000"/>
            <a:ext cx="1161288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Chain Verify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Multi-Channel Notification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Email, SMS, and webhook delivery with rule-based routing and delivery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Channels: Email (SMTP), SMS (Twilio), Webhook (Slack, Teams, custom)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3 active channels seeded: Ops Email Alert, Slack Security Ops, SMS On-Call Guard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Rule engine: route specific alert types/severities to specific channels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Delivery logs: track every notification sent with status and timestamp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Test endpoint: fire a test notification to verify channel config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Mobile push notifications: Expo FCM/APNs for iOS and Android apps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Camera offline alerts automatically dispatched when connectivity drops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Notification rules configurable per tenant by admin without code changes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860804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 / SMS / Webhook</a:t>
            </a:r>
          </a:p>
        </p:txBody>
      </p:sp>
      <p:sp>
        <p:nvSpPr>
          <p:cNvPr id="12" name="Oval 11"/>
          <p:cNvSpPr/>
          <p:nvPr/>
        </p:nvSpPr>
        <p:spPr>
          <a:xfrm>
            <a:off x="2272284" y="5715000"/>
            <a:ext cx="108356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Mobile Push</a:t>
            </a:r>
          </a:p>
        </p:txBody>
      </p:sp>
      <p:sp>
        <p:nvSpPr>
          <p:cNvPr id="13" name="Oval 12"/>
          <p:cNvSpPr/>
          <p:nvPr/>
        </p:nvSpPr>
        <p:spPr>
          <a:xfrm>
            <a:off x="3493008" y="5715000"/>
            <a:ext cx="1239012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Delivery Logs</a:t>
            </a:r>
          </a:p>
        </p:txBody>
      </p:sp>
      <p:sp>
        <p:nvSpPr>
          <p:cNvPr id="14" name="Oval 13"/>
          <p:cNvSpPr/>
          <p:nvPr/>
        </p:nvSpPr>
        <p:spPr>
          <a:xfrm>
            <a:off x="4869179" y="5715000"/>
            <a:ext cx="108356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Rule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Administration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9800"/>
                </a:solidFill>
              </a:rPr>
              <a:t>Multi-tenant management, RBAC, 2FA, API keys, IP allowlist, and session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</a:rPr>
              <a:t>7th AI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6172200" cy="5394959"/>
          </a:xfrm>
          <a:prstGeom prst="rect">
            <a:avLst/>
          </a:prstGeom>
          <a:solidFill>
            <a:srgbClr val="25205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6 RBAC roles: Super Admin, Admin, Supervisor, Operator, Security Guard, Viewer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Per-tenant module licensing: enable/disable AI modules per tenant (8/11 active)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Two-factor authentication (TOTP) — enforced per-tenant by admin policy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Active session management: view and revoke sessions across devices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Per-account login lockout after configurable failed attempts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API key management with scoped permissions for programmatic access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IP allowlist: restrict tenant access to approved CIDR ranges only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All admin actions logged in tamper-evident audit trail (Verify Chain)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5715000"/>
            <a:ext cx="1161288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 RBAC Roles</a:t>
            </a:r>
          </a:p>
        </p:txBody>
      </p:sp>
      <p:sp>
        <p:nvSpPr>
          <p:cNvPr id="12" name="Oval 11"/>
          <p:cNvSpPr/>
          <p:nvPr/>
        </p:nvSpPr>
        <p:spPr>
          <a:xfrm>
            <a:off x="1572768" y="5715000"/>
            <a:ext cx="850392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2FA/TOTP</a:t>
            </a:r>
          </a:p>
        </p:txBody>
      </p:sp>
      <p:sp>
        <p:nvSpPr>
          <p:cNvPr id="13" name="Oval 12"/>
          <p:cNvSpPr/>
          <p:nvPr/>
        </p:nvSpPr>
        <p:spPr>
          <a:xfrm>
            <a:off x="2560320" y="5715000"/>
            <a:ext cx="1161288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IP Allowlist</a:t>
            </a:r>
          </a:p>
        </p:txBody>
      </p:sp>
      <p:sp>
        <p:nvSpPr>
          <p:cNvPr id="14" name="Oval 13"/>
          <p:cNvSpPr/>
          <p:nvPr/>
        </p:nvSpPr>
        <p:spPr>
          <a:xfrm>
            <a:off x="3858768" y="5715000"/>
            <a:ext cx="1161288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Session Mgmt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Windows Desktop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Native Electron app — full platform capability without a browser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05840"/>
            <a:ext cx="608076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960120"/>
            <a:ext cx="6172200" cy="5394960"/>
          </a:xfrm>
          <a:prstGeom prst="rect">
            <a:avLst/>
          </a:prstGeom>
          <a:noFill/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39496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Packaged as native Windows .exe (NSIS installer + portable)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First-run wizard: configure server URL (local or cloud deployment)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System tray icon with real-time unread alert badge count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Native Windows notifications for Critical/High severity alerts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Auto-reconnect WebSocket with exponential backoff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Offline mode indicator with graceful degradation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No browser required — runs alongside other security software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Electron wrapper reuses 100% of the React web frontend — zero code duplication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▸  Optional auto-start on Windows login via system settings toggle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6263640"/>
            <a:ext cx="850392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Electron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6263640"/>
            <a:ext cx="1316736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NSIS Installer</a:t>
            </a:r>
          </a:p>
        </p:txBody>
      </p:sp>
      <p:sp>
        <p:nvSpPr>
          <p:cNvPr id="12" name="Oval 11"/>
          <p:cNvSpPr/>
          <p:nvPr/>
        </p:nvSpPr>
        <p:spPr>
          <a:xfrm>
            <a:off x="3566160" y="6263640"/>
            <a:ext cx="1083564" cy="25603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System Tray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6263640"/>
            <a:ext cx="1083564" cy="256032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Native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9C0"/>
                </a:solidFill>
              </a:rPr>
              <a:t>Production-ready microservice architecture — Docker Compose → Kubernetes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64592" cy="5669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430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Web (React+MUI)  •  iOS/Android (Expo)  •  Windows (Electron)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19072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19072"/>
            <a:ext cx="164592" cy="56692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764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C0"/>
                </a:solidFill>
              </a:rPr>
              <a:t>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810512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FastAPI /api/v1  •  Nginx reverse proxy  •  SlowAPI rate limiting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86584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86584"/>
            <a:ext cx="164592" cy="5669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43230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478024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WebSocket /ws/live  •  Redis Pub/Sub fan-out  •  ConnectionManager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54096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054096"/>
            <a:ext cx="164592" cy="56692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0998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AI Workers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145536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11 × independent Docker services  •  Redis Streams XCONSUME  •  GPU/CPU auto-detect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21608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21608"/>
            <a:ext cx="164592" cy="56692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767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C0"/>
                </a:solidFill>
              </a:rPr>
              <a:t>Data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81304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PostgreSQL 16 + RLS  •  pgvector embeddings  •  pg_partman monthly partitions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89120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389120"/>
            <a:ext cx="164592" cy="5669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Message Bus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480559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Redis 7  •  Streams (frame_jobs)  •  Pub/Sub (tenant_events)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56631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056631"/>
            <a:ext cx="164592" cy="56692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10235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C0"/>
                </a:solidFill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148071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Prometheus scrape  •  Grafana dashboards  •  Structured logging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724144"/>
            <a:ext cx="11612880" cy="56692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724144"/>
            <a:ext cx="164592" cy="566928"/>
          </a:xfrm>
          <a:prstGeom prst="rect">
            <a:avLst/>
          </a:prstGeom>
          <a:solidFill>
            <a:srgbClr val="00E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769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396"/>
                </a:solidFill>
              </a:rPr>
              <a:t>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815583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Audit log chain verify  •  PDPA/DSAR  •  Evidence SHA-256 checksums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Deployment &amp; 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396"/>
                </a:solidFill>
              </a:rPr>
              <a:t>On-premise or cloud — built for 7–10 year operational lifespan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C0"/>
                </a:solidFill>
              </a:rPr>
              <a:t>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1828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Docker Compose (dev/on-prem)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Kubernetes-ready (Helm charts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025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GPU passthrough via NVIDIA Container Toolkit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95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Windows native Electron 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791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C0"/>
                </a:solidFill>
              </a:rPr>
              <a:t>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99232"/>
            <a:ext cx="5303520" cy="1828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4495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PostgreSQL 16 with Row-Level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3755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Monthly table partitioning (pg_partman)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30167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pgvector for 512-d face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227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7-year audit log archival — never dropped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30682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C0"/>
                </a:solidFill>
              </a:rPr>
              <a:t>Auth &amp;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26863"/>
            <a:ext cx="5303520" cy="1828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7258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JWT with per-kid signing key rotation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651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TOTP two-factor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257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Per-account lockout (configurable attempts)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5504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IP allowlist per tenant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430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Active session revocation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C0"/>
                </a:solidFill>
              </a:rPr>
              <a:t>API 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371600"/>
            <a:ext cx="5303520" cy="1828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141731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SlowAPI rate limiting (Redis-backed)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5/min on login (brute-force protection)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0025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CORS + CSP + X-Frame-Options headers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2295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API key scoping for programmatic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791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C0"/>
                </a:solidFill>
              </a:rPr>
              <a:t>AI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999232"/>
            <a:ext cx="5303520" cy="1828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304495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Redis Streams crash recovery (XCLAIM)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333755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Model version tracked per detection 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3630167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Tenant-configurable thresholds (no redeploy)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39227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30-second TTL settings cache in workers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30682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C0"/>
                </a:solidFill>
              </a:rPr>
              <a:t>Compliance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626863"/>
            <a:ext cx="5303520" cy="1828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467258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PDPA-ready: DSAR management, masking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49651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SHA-256 evidence checksums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5257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Blockchain-style audit chain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55504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  ✓  Semantic-versioned releases + rollback runbook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</a:rPr>
              <a:t>Enterprise AI Video Surveillance — 7th AI Vision  | 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solidFill>
            <a:srgbClr val="18104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2743200"/>
            <a:ext cx="2286000" cy="2286000"/>
          </a:xfrm>
          <a:prstGeom prst="ellipse">
            <a:avLst/>
          </a:prstGeom>
          <a:solidFill>
            <a:srgbClr val="181040"/>
          </a:solidFill>
          <a:ln w="1270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18104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7th AI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9C0"/>
                </a:solidFill>
              </a:rPr>
              <a:t>Where AI Meets Physical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64008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Built for enterprise. Proven in production. Ready to deploy.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◆  11 AI detection modules — all running simultaneously per camera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◆  104 / 104 automated backend tests passing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◆  Multi-tenant SaaS with PostgreSQL Row-Level Security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◆  Real-time WebSocket push — zero-polling alert delivery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◆  Native Windows desktop app + iOS/Android mobile app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◆  Full PDPA compliance with DSAR and privacy masking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C0"/>
                </a:solidFill>
              </a:rPr>
              <a:t>Contact: sathishtvg@gmail.com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AA"/>
                </a:solidFill>
              </a:rPr>
              <a:t>© 2026 Seventh AI Vision.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